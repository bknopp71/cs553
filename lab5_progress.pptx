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9"/>
  </p:notesMasterIdLst>
  <p:sldIdLst>
    <p:sldId id="257" r:id="rId2"/>
    <p:sldId id="270" r:id="rId3"/>
    <p:sldId id="258" r:id="rId4"/>
    <p:sldId id="268" r:id="rId5"/>
    <p:sldId id="269" r:id="rId6"/>
    <p:sldId id="271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6E1C5-DF1A-4DD1-AB7C-AF7860DFA1B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34A3B-7D19-460E-92C7-AE89F2B4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90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84E6-C505-454C-94ED-24B2C6BB7316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57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AA722-236B-4A1F-94D2-DB26A34830B3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01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3DB86-9888-492C-A25C-C192CCB89DFF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2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A866A-2D48-485E-B452-2A4F61767070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51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21552-0362-4818-81D5-D980936CE999}" type="datetime1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96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B375E-4694-4B23-8EC1-CFC1A106764F}" type="datetime1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07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67575-4F83-4AF8-A812-E00DDC0AEB02}" type="datetime1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90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30DB-30C4-44F1-996C-D0CB49D94456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8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B6F0-DCCA-4141-B242-53CD8C5399D5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01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13A1-0EC2-40A8-AAE8-FDEED99D8AB8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3A2C-90FD-497F-97FF-0F2AB690E220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7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081F384D-1853-4EB6-BAA9-E8DB0FE440FC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078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FEEDA-D078-BE76-E7FC-27D59C09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6349AF5-0E73-7FB6-276D-DC37FA1A0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utoShape 4" descr="MQTT in Python with Paho Client: Beginner's Guide 2025">
            <a:extLst>
              <a:ext uri="{FF2B5EF4-FFF2-40B4-BE49-F238E27FC236}">
                <a16:creationId xmlns:a16="http://schemas.microsoft.com/office/drawing/2014/main" id="{A322DD58-8423-E41A-F205-FCFCBCB8E4E2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 bwMode="auto">
          <a:xfrm>
            <a:off x="790485" y="4811692"/>
            <a:ext cx="10594522" cy="15883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400" dirty="0"/>
              <a:t>UNIVERSITY OF IDAHO – Brent </a:t>
            </a:r>
            <a:r>
              <a:rPr lang="en-US" sz="2400" dirty="0" err="1"/>
              <a:t>knopp</a:t>
            </a:r>
            <a:r>
              <a:rPr lang="en-US" sz="2400" dirty="0"/>
              <a:t> &amp; </a:t>
            </a:r>
            <a:r>
              <a:rPr lang="en-US" sz="2400" dirty="0" err="1"/>
              <a:t>kate</a:t>
            </a:r>
            <a:r>
              <a:rPr lang="en-US" sz="2400" dirty="0"/>
              <a:t> bouse</a:t>
            </a:r>
            <a:br>
              <a:rPr lang="en-US" sz="2400" dirty="0"/>
            </a:br>
            <a:r>
              <a:rPr lang="en-US" sz="2400" dirty="0"/>
              <a:t>COEUR D’ALENE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85B679-B983-9B2C-BFD0-FD8DC838F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5508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5A1D130-A751-7331-9AA4-DDA266D3510A}"/>
              </a:ext>
            </a:extLst>
          </p:cNvPr>
          <p:cNvSpPr txBox="1"/>
          <p:nvPr/>
        </p:nvSpPr>
        <p:spPr>
          <a:xfrm>
            <a:off x="703399" y="291192"/>
            <a:ext cx="876506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dirty="0"/>
              <a:t>UPDATE: LAB 5 DICE DETECTION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2700A5-92B3-672A-06FD-7ECFA0091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</a:t>
            </a:fld>
            <a:endParaRPr lang="en-US"/>
          </a:p>
        </p:txBody>
      </p:sp>
      <p:sp>
        <p:nvSpPr>
          <p:cNvPr id="3" name="AutoShape 8" descr="Standard Bots RO1 Robot | Collaborative Robots | Motion World">
            <a:extLst>
              <a:ext uri="{FF2B5EF4-FFF2-40B4-BE49-F238E27FC236}">
                <a16:creationId xmlns:a16="http://schemas.microsoft.com/office/drawing/2014/main" id="{BE121939-CF41-C3F2-80E5-672AF64E1D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4" descr="University of Idaho Logo | University of idaho, University logo, University">
            <a:extLst>
              <a:ext uri="{FF2B5EF4-FFF2-40B4-BE49-F238E27FC236}">
                <a16:creationId xmlns:a16="http://schemas.microsoft.com/office/drawing/2014/main" id="{ED84D8E5-4F2C-BF28-0424-EB1B83B7C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928" y="4932438"/>
            <a:ext cx="1485097" cy="162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4" descr="Standard Bots Overview">
            <a:extLst>
              <a:ext uri="{FF2B5EF4-FFF2-40B4-BE49-F238E27FC236}">
                <a16:creationId xmlns:a16="http://schemas.microsoft.com/office/drawing/2014/main" id="{95AC5E94-2413-5C4D-648A-AF8A7F8C92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 descr="Premium Vector | Chat Bot icon Virtual smart assistant Bot logo Robot head on blue background">
            <a:extLst>
              <a:ext uri="{FF2B5EF4-FFF2-40B4-BE49-F238E27FC236}">
                <a16:creationId xmlns:a16="http://schemas.microsoft.com/office/drawing/2014/main" id="{A56CAB03-3EB4-D9CC-71BF-5B9CA326F5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3B33BD-3192-73D9-A858-9C5937682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311329"/>
            <a:ext cx="5648960" cy="3188111"/>
          </a:xfrm>
          <a:prstGeom prst="rect">
            <a:avLst/>
          </a:prstGeom>
        </p:spPr>
      </p:pic>
      <p:pic>
        <p:nvPicPr>
          <p:cNvPr id="3080" name="Picture 8" descr="Main Product Image">
            <a:extLst>
              <a:ext uri="{FF2B5EF4-FFF2-40B4-BE49-F238E27FC236}">
                <a16:creationId xmlns:a16="http://schemas.microsoft.com/office/drawing/2014/main" id="{86DC68A3-2DAB-910F-5FD0-500CA5D8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321" y="1261637"/>
            <a:ext cx="2732493" cy="316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399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1477EA-4626-8005-6CB6-BBEA7DE26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1C7C3E-2466-6C03-F846-8DAD0BAADE2E}"/>
              </a:ext>
            </a:extLst>
          </p:cNvPr>
          <p:cNvSpPr txBox="1"/>
          <p:nvPr/>
        </p:nvSpPr>
        <p:spPr>
          <a:xfrm>
            <a:off x="530299" y="789321"/>
            <a:ext cx="4397556" cy="13167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cap="all" spc="30">
                <a:latin typeface="+mj-lt"/>
                <a:ea typeface="+mj-ea"/>
                <a:cs typeface="+mj-cs"/>
              </a:rPr>
              <a:t>PROJECT OUTLINE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DC20223-0542-4FF7-8F2F-136889161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00004A4-6647-5660-7692-0CD1D4955DBA}"/>
              </a:ext>
            </a:extLst>
          </p:cNvPr>
          <p:cNvSpPr txBox="1"/>
          <p:nvPr/>
        </p:nvSpPr>
        <p:spPr>
          <a:xfrm>
            <a:off x="530299" y="1714609"/>
            <a:ext cx="5724502" cy="463464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400" dirty="0">
                <a:ea typeface="+mn-lt"/>
                <a:cs typeface="+mn-lt"/>
              </a:rPr>
              <a:t>Develop a dice detection system</a:t>
            </a:r>
          </a:p>
          <a:p>
            <a:pPr marL="228600" indent="-45720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</a:pPr>
            <a:endParaRPr lang="en-US" sz="2400" dirty="0"/>
          </a:p>
          <a:p>
            <a:pPr marL="2286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Coordinate 1 Fanuc Robot and 1 Standard Bot 	</a:t>
            </a:r>
          </a:p>
          <a:p>
            <a:pPr marL="2286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Use MQTT communication protocol</a:t>
            </a:r>
          </a:p>
          <a:p>
            <a:pPr marL="228600" indent="-457200">
              <a:spcAft>
                <a:spcPts val="600"/>
              </a:spcAft>
              <a:buFont typeface="+mj-lt"/>
              <a:buAutoNum type="arabicPeriod"/>
            </a:pPr>
            <a:endParaRPr lang="en-US" sz="2000" dirty="0"/>
          </a:p>
          <a:p>
            <a:pPr marL="2286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Dice detection done with OpenCV</a:t>
            </a:r>
          </a:p>
          <a:p>
            <a:pPr marL="228600" indent="-457200">
              <a:spcAft>
                <a:spcPts val="600"/>
              </a:spcAft>
              <a:buFont typeface="+mj-lt"/>
              <a:buAutoNum type="arabicPeriod"/>
            </a:pPr>
            <a:endParaRPr lang="en-US" sz="2000" dirty="0"/>
          </a:p>
          <a:p>
            <a:pPr marL="2286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Python Libraries</a:t>
            </a:r>
          </a:p>
          <a:p>
            <a:pPr marL="228600" indent="-457200">
              <a:spcAft>
                <a:spcPts val="600"/>
              </a:spcAft>
              <a:buFont typeface="+mj-lt"/>
              <a:buAutoNum type="arabicPeriod"/>
            </a:pPr>
            <a:endParaRPr lang="en-US" sz="2000" dirty="0"/>
          </a:p>
          <a:p>
            <a:pPr marL="228600" indent="-457200">
              <a:spcAft>
                <a:spcPts val="600"/>
              </a:spcAft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8" name="Picture 7" descr="Mettre en place un serveur MQTT avec Mosquitto • AranaCorp">
            <a:extLst>
              <a:ext uri="{FF2B5EF4-FFF2-40B4-BE49-F238E27FC236}">
                <a16:creationId xmlns:a16="http://schemas.microsoft.com/office/drawing/2014/main" id="{8E373FBA-83FB-AF1E-894D-0174E25D9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530" y="2685276"/>
            <a:ext cx="3602553" cy="1486440"/>
          </a:xfrm>
          <a:prstGeom prst="rect">
            <a:avLst/>
          </a:prstGeom>
        </p:spPr>
      </p:pic>
      <p:pic>
        <p:nvPicPr>
          <p:cNvPr id="7" name="Picture 6" descr="FANUC">
            <a:extLst>
              <a:ext uri="{FF2B5EF4-FFF2-40B4-BE49-F238E27FC236}">
                <a16:creationId xmlns:a16="http://schemas.microsoft.com/office/drawing/2014/main" id="{C32056C2-BE02-F3DD-9B42-202500695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801" y="448575"/>
            <a:ext cx="5676901" cy="204368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0BF2F-281B-1901-8517-DF3229838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2ACB071D-D311-66A8-9791-4F9DC77D2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0736" y="4473285"/>
            <a:ext cx="1307883" cy="1726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F2EF4F-C8DB-2A85-C346-D1AA85F04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801" y="4260616"/>
            <a:ext cx="3602554" cy="203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42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E789C4-505A-FE0B-6F37-5B695DEC8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r>
              <a:rPr lang="en-US" dirty="0"/>
              <a:t>State Diagram</a:t>
            </a:r>
          </a:p>
        </p:txBody>
      </p: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B156DA-80BF-6C40-BB45-C59F4735D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48" y="2291930"/>
            <a:ext cx="5491027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Must handshake with MQTT</a:t>
            </a:r>
          </a:p>
          <a:p>
            <a:r>
              <a:rPr lang="en-US" dirty="0"/>
              <a:t>Each robot must have both an independent state to separate dice because they use 1 camera</a:t>
            </a:r>
          </a:p>
          <a:p>
            <a:r>
              <a:rPr lang="en-US" dirty="0"/>
              <a:t>Each robot must have both an independent state to get coordinates because they use 1 camera</a:t>
            </a:r>
          </a:p>
          <a:p>
            <a:r>
              <a:rPr lang="en-US" dirty="0"/>
              <a:t>The robots do not need different states for clearing dice because the cameras are not used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8DBE3D-D519-DA39-D385-CBF41681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51818-7B1C-C750-31B4-26DD83C41898}"/>
              </a:ext>
            </a:extLst>
          </p:cNvPr>
          <p:cNvSpPr txBox="1"/>
          <p:nvPr/>
        </p:nvSpPr>
        <p:spPr>
          <a:xfrm>
            <a:off x="6249288" y="6311900"/>
            <a:ext cx="1286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State diagram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EDC7492-3F6B-D45A-65B8-D26461689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749" y="479351"/>
            <a:ext cx="6061133" cy="561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28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A2EB8-2DA3-16CC-6005-8CE7B96B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7FEE-3D67-65F4-6D91-9EE80A117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256248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timeline</a:t>
            </a:r>
            <a:br>
              <a:rPr lang="en-US" sz="2800" dirty="0"/>
            </a:br>
            <a:br>
              <a:rPr lang="en-US" sz="2800" dirty="0"/>
            </a:br>
            <a:r>
              <a:rPr lang="en-US" sz="2000" u="sng" dirty="0"/>
              <a:t>Project Workflow</a:t>
            </a:r>
            <a:r>
              <a:rPr lang="en-US" sz="2000" dirty="0"/>
              <a:t> (</a:t>
            </a:r>
            <a:r>
              <a:rPr lang="en-US" sz="2000" dirty="0">
                <a:highlight>
                  <a:srgbClr val="FFFF00"/>
                </a:highlight>
              </a:rPr>
              <a:t>      </a:t>
            </a:r>
            <a:r>
              <a:rPr lang="en-US" sz="2000" dirty="0"/>
              <a:t>= </a:t>
            </a:r>
            <a:r>
              <a:rPr lang="en-US" sz="2000" b="1" dirty="0"/>
              <a:t>done</a:t>
            </a:r>
            <a:r>
              <a:rPr lang="en-US" sz="20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8AEFA-9BD0-9748-1DAB-86C6DE0D5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586" y="2288705"/>
            <a:ext cx="3799763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lvl="1" indent="-342900"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</a:rPr>
              <a:t>Establishing MQTT Communication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</a:rPr>
              <a:t>System Design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</a:rPr>
              <a:t>Program Offline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</a:rPr>
              <a:t>Online Programming</a:t>
            </a:r>
            <a:endParaRPr lang="en-US" b="1" dirty="0">
              <a:highlight>
                <a:srgbClr val="FFFF00"/>
              </a:highlight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</a:rPr>
              <a:t>Integration &amp; Testing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</a:rPr>
              <a:t>Make Video &amp; PPT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Documentation</a:t>
            </a:r>
          </a:p>
          <a:p>
            <a:pPr marL="342900" lvl="1" indent="-342900">
              <a:buFont typeface="+mj-lt"/>
              <a:buAutoNum type="arabicPeriod"/>
            </a:pPr>
            <a:endParaRPr lang="en-US" b="1" dirty="0"/>
          </a:p>
          <a:p>
            <a:pPr marL="0" lvl="1" indent="0">
              <a:buNone/>
            </a:pPr>
            <a:endParaRPr lang="en-US" b="1" dirty="0"/>
          </a:p>
          <a:p>
            <a:pPr marL="0" indent="0">
              <a:spcBef>
                <a:spcPts val="2500"/>
              </a:spcBef>
              <a:buNone/>
            </a:pPr>
            <a:endParaRPr lang="en-US" dirty="0"/>
          </a:p>
        </p:txBody>
      </p:sp>
      <p:pic>
        <p:nvPicPr>
          <p:cNvPr id="4100" name="Picture 4" descr="A large wall clock displays black numbers on a white face with a silver edge.">
            <a:extLst>
              <a:ext uri="{FF2B5EF4-FFF2-40B4-BE49-F238E27FC236}">
                <a16:creationId xmlns:a16="http://schemas.microsoft.com/office/drawing/2014/main" id="{E872636E-F9D8-7406-0A84-CC622E631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378" y="0"/>
            <a:ext cx="71536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78478-697B-7B4F-79F0-54A3561A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9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7B7DBE-09EB-AEBC-1273-4CFD68C082DC}"/>
              </a:ext>
            </a:extLst>
          </p:cNvPr>
          <p:cNvSpPr txBox="1"/>
          <p:nvPr/>
        </p:nvSpPr>
        <p:spPr>
          <a:xfrm>
            <a:off x="1123737" y="215303"/>
            <a:ext cx="410559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highlight>
                  <a:srgbClr val="808000"/>
                </a:highlight>
              </a:rPr>
              <a:t>FINISHED VIDEO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C3F00-A313-7290-0525-CE7A7D388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24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E481C-B30E-AEDA-6D1B-F7376394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2882A9-96E5-41AD-7029-A70956B8494E}"/>
              </a:ext>
            </a:extLst>
          </p:cNvPr>
          <p:cNvSpPr txBox="1"/>
          <p:nvPr/>
        </p:nvSpPr>
        <p:spPr>
          <a:xfrm>
            <a:off x="435509" y="752696"/>
            <a:ext cx="5227171" cy="9183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cap="all" spc="30">
                <a:latin typeface="+mj-lt"/>
                <a:ea typeface="+mj-ea"/>
                <a:cs typeface="+mj-cs"/>
              </a:rPr>
              <a:t>CHALLENGES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69,567 Problem Solving Stock Photos - Free &amp; Royalty-Free ...">
            <a:extLst>
              <a:ext uri="{FF2B5EF4-FFF2-40B4-BE49-F238E27FC236}">
                <a16:creationId xmlns:a16="http://schemas.microsoft.com/office/drawing/2014/main" id="{D46282FA-7AAB-E02D-2199-EC4123CD5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17" r="12764" b="2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FF89E7-53E9-91FB-A873-F39AD0A0B8B0}"/>
              </a:ext>
            </a:extLst>
          </p:cNvPr>
          <p:cNvSpPr txBox="1"/>
          <p:nvPr/>
        </p:nvSpPr>
        <p:spPr>
          <a:xfrm>
            <a:off x="433885" y="1560153"/>
            <a:ext cx="5020362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Firewall not allowing MQTT to work correctly. (Brent's computer's fault)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Robot position synchronization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Random position was repeated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No master (we implemented one)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One-state delay (we accounted for it)</a:t>
            </a:r>
          </a:p>
          <a:p>
            <a:pPr lvl="1"/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Integration of code to make one system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Difficult to do solo</a:t>
            </a:r>
          </a:p>
          <a:p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Randomize meeting position constraints by +/- 30 cm in </a:t>
            </a:r>
            <a:r>
              <a:rPr lang="en-US" dirty="0" err="1">
                <a:ea typeface="+mn-lt"/>
                <a:cs typeface="+mn-lt"/>
              </a:rPr>
              <a:t>xyz</a:t>
            </a:r>
            <a:r>
              <a:rPr lang="en-US" dirty="0">
                <a:ea typeface="+mn-lt"/>
                <a:cs typeface="+mn-lt"/>
              </a:rPr>
              <a:t> directions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Used +/- 15 cm instead </a:t>
            </a:r>
          </a:p>
          <a:p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694C0-5B48-0F8E-C3B5-0E9BF8845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2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6B746-20C4-858C-DEB7-E392C679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1" name="Straight Connector 310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2" name="Straight Connector 310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03" name="Rectangle 310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Any Questions in splash’s background">
            <a:extLst>
              <a:ext uri="{FF2B5EF4-FFF2-40B4-BE49-F238E27FC236}">
                <a16:creationId xmlns:a16="http://schemas.microsoft.com/office/drawing/2014/main" id="{D367EFBD-A006-42C1-DF81-B09D8B088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01" r="20077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4" name="Rectangle 3103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85776-D422-8FA2-77F9-A6766D68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5067300" cy="34970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Questions</a:t>
            </a:r>
          </a:p>
        </p:txBody>
      </p:sp>
      <p:cxnSp>
        <p:nvCxnSpPr>
          <p:cNvPr id="3100" name="Straight Connector 309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611C34-458E-8372-5733-E29045A0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80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200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Calisto MT</vt:lpstr>
      <vt:lpstr>Courier New</vt:lpstr>
      <vt:lpstr>Univers Condensed</vt:lpstr>
      <vt:lpstr>ChronicleVTI</vt:lpstr>
      <vt:lpstr>UNIVERSITY OF IDAHO – Brent knopp &amp; kate bouse COEUR D’ALENE</vt:lpstr>
      <vt:lpstr>PowerPoint Presentation</vt:lpstr>
      <vt:lpstr>State Diagram</vt:lpstr>
      <vt:lpstr>timeline  Project Workflow (      = done)</vt:lpstr>
      <vt:lpstr>PowerPoint Presentation</vt:lpstr>
      <vt:lpstr>PowerPoint Presentation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Knopp, Brent (knop8939@vandals.uidaho.edu)</dc:creator>
  <cp:lastModifiedBy>Knopp, Brent (knop8939@vandals.uidaho.edu)</cp:lastModifiedBy>
  <cp:revision>368</cp:revision>
  <dcterms:created xsi:type="dcterms:W3CDTF">2025-10-08T00:54:27Z</dcterms:created>
  <dcterms:modified xsi:type="dcterms:W3CDTF">2025-11-10T19:21:10Z</dcterms:modified>
</cp:coreProperties>
</file>